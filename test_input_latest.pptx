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?>
<Relationships xmlns="http://schemas.openxmlformats.org/package/2006/relationships"><Relationship Id="rId1" Type="http://schemas.openxmlformats.org/officeDocument/2006/relationships/presProps" Target="presProps.xml" /><Relationship Id="rId2" Type="http://schemas.openxmlformats.org/officeDocument/2006/relationships/viewProps" Target="viewProps.xml" /><Relationship Id="rId3" Type="http://schemas.openxmlformats.org/officeDocument/2006/relationships/commentAuthors" Target="commentAuthors.xml" /><Relationship Id="rId4" Type="http://schemas.openxmlformats.org/officeDocument/2006/relationships/tableStyles" Target="tableStyles.xml" /><Relationship Id="rId5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7" Type="http://schemas.openxmlformats.org/officeDocument/2006/relationships/notesMaster" Target="notesMasters/notesMaster1.xml" /><Relationship Id="rId8" Type="http://schemas.openxmlformats.org/officeDocument/2006/relationships/slide" Target="slides/slide1.xml" /><Relationship Id="rId9" Type="http://schemas.openxmlformats.org/officeDocument/2006/relationships/slide" Target="slides/slide2.xml" /><Relationship Id="rId10" Type="http://schemas.openxmlformats.org/officeDocument/2006/relationships/slide" Target="slides/slide3.xml" /><Relationship Id="rId11" Type="http://schemas.openxmlformats.org/officeDocument/2006/relationships/slide" Target="slides/slide4.xml" /><Relationship Id="rId12" Type="http://schemas.openxmlformats.org/officeDocument/2006/relationships/slide" Target="slides/slide5.xml" /><Relationship Id="rId13" Type="http://schemas.openxmlformats.org/officeDocument/2006/relationships/slide" Target="slides/slide6.xml" 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b="1" sz="3420"/>
            </a:lvl1pPr>
          </a:lstStyle>
          <a:p>
            <a:pPr/>
            <a:r>
              <a:t>저자 및 날짜</a:t>
            </a:r>
          </a:p>
        </p:txBody>
      </p:sp>
      <p:sp>
        <p:nvSpPr>
          <p:cNvPr id="12" name="프레젠테이션 제목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13" name="본문 첫 번째 줄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슬라이드 번호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푸른 언덕 풍경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프레젠테이션 제목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23" name="저자 및 날짜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b="1" sz="3420"/>
            </a:lvl1pPr>
          </a:lstStyle>
          <a:p>
            <a:pPr/>
            <a:r>
              <a:t>저자 및 날짜</a:t>
            </a:r>
          </a:p>
        </p:txBody>
      </p:sp>
      <p:sp>
        <p:nvSpPr>
          <p:cNvPr id="24" name="본문 첫 번째 줄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프레젠테이션 부제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슬라이드 제목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슬라이드 제목</a:t>
            </a:r>
          </a:p>
        </p:txBody>
      </p:sp>
      <p:sp>
        <p:nvSpPr>
          <p:cNvPr id="33" name="본문 첫 번째 줄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슬라이드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이끼에 덮인 돌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슬라이드 번호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43" name="슬라이드 부제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44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제목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61" name="슬라이드 부제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62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어두운 구름 아래 흙길을 전경으로 두고 형성된 커다란 바위의 대형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제목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72" name="슬라이드 부제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73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제목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82" name="슬라이드 부제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83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섹션 제목</a:t>
            </a:r>
          </a:p>
        </p:txBody>
      </p:sp>
      <p:sp>
        <p:nvSpPr>
          <p:cNvPr id="92" name="슬라이드 번호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제목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100" name="슬라이드 부제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10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제목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의제 제목</a:t>
            </a:r>
          </a:p>
        </p:txBody>
      </p:sp>
      <p:sp>
        <p:nvSpPr>
          <p:cNvPr id="109" name="의제 부제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의제 부제</a:t>
            </a:r>
          </a:p>
        </p:txBody>
      </p:sp>
      <p:sp>
        <p:nvSpPr>
          <p:cNvPr id="110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의제 주제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내역서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실 정보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사실 정보</a:t>
            </a:r>
          </a:p>
        </p:txBody>
      </p:sp>
      <p:sp>
        <p:nvSpPr>
          <p:cNvPr id="127" name="본문 첫 번째 줄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속성</a:t>
            </a:r>
          </a:p>
        </p:txBody>
      </p:sp>
      <p:sp>
        <p:nvSpPr>
          <p:cNvPr id="136" name="본문 첫 번째 줄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“멋진 인용구”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돌 사이로 자라는 야생 식물의 모습을 근접 촬영한 사진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어두운 구름 아래 흙길을 전경으로 두고 형성된 커다란 바위의 대형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화산암 사이로 자라는 야생 식물을 근접 촬영한 사진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푸른 암벽으로 둘러싸인 폭포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제목</a:t>
            </a:r>
          </a:p>
        </p:txBody>
      </p:sp>
      <p:sp>
        <p:nvSpPr>
          <p:cNvPr id="3" name="본문 첫 번째 줄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eft"/>
          <p:cNvSpPr txBox="1"/>
          <p:nvPr/>
        </p:nvSpPr>
        <p:spPr>
          <a:xfrm>
            <a:off x="177800" y="101600"/>
            <a:ext cx="2794000" cy="7112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35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1번</a:t>
            </a:r>
            <a:endParaRPr sz="35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3" name="top-right"/>
          <p:cNvSpPr txBox="1"/>
          <p:nvPr/>
        </p:nvSpPr>
        <p:spPr>
          <a:xfrm>
            <a:off x="14986000" y="101600"/>
            <a:ext cx="9144000" cy="7112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35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YGA 2026 KO Reading</a:t>
            </a:r>
            <a:endParaRPr sz="35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top-red-line"/>
          <p:cNvSpPr/>
          <p:nvPr/>
        </p:nvSpPr>
        <p:spPr>
          <a:xfrm>
            <a:off x="0" y="838200"/>
            <a:ext cx="24384000" cy="1016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12" name="body"/>
          <p:cNvSpPr txBox="1"/>
          <p:nvPr/>
        </p:nvSpPr>
        <p:spPr>
          <a:xfrm>
            <a:off x="444500" y="1498600"/>
            <a:ext cx="23495000" cy="109220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Dear students,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I am Amanda Clark, the school club director, and I am writing to you about our school clubs. Over the last few semesters, there ①have been requests for more diverse school clubs. For this reason, the school decided to expand the number of clubs for extracurricular activities. This ②provides students with an opportunity to make additional clubs. Students can make any type of club ③based on their various interests, such as hip-hop, K-pop dancing, or coding. Therefore, I am encouraging you to submit a proposal for a new club ④that you would like to create. Please turn this in to my office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eft"/>
          <p:cNvSpPr txBox="1"/>
          <p:nvPr/>
        </p:nvSpPr>
        <p:spPr>
          <a:xfrm>
            <a:off x="177800" y="101600"/>
            <a:ext cx="2794000" cy="7112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35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1번</a:t>
            </a:r>
            <a:endParaRPr sz="35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3" name="top-right"/>
          <p:cNvSpPr txBox="1"/>
          <p:nvPr/>
        </p:nvSpPr>
        <p:spPr>
          <a:xfrm>
            <a:off x="14986000" y="101600"/>
            <a:ext cx="9144000" cy="7112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35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YGA 2026 KO Reading</a:t>
            </a:r>
            <a:endParaRPr sz="35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top-red-line"/>
          <p:cNvSpPr/>
          <p:nvPr/>
        </p:nvSpPr>
        <p:spPr>
          <a:xfrm>
            <a:off x="0" y="838200"/>
            <a:ext cx="24384000" cy="1016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12" name="body"/>
          <p:cNvSpPr txBox="1"/>
          <p:nvPr/>
        </p:nvSpPr>
        <p:spPr>
          <a:xfrm>
            <a:off x="444500" y="1498600"/>
            <a:ext cx="23495000" cy="109220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by the end of this week. I ⑤look forward to see your great ideas.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Best regards,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Amanda Clark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eft"/>
          <p:cNvSpPr txBox="1"/>
          <p:nvPr/>
        </p:nvSpPr>
        <p:spPr>
          <a:xfrm>
            <a:off x="177800" y="101600"/>
            <a:ext cx="2794000" cy="7112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35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1번</a:t>
            </a:r>
            <a:endParaRPr sz="35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3" name="top-right"/>
          <p:cNvSpPr txBox="1"/>
          <p:nvPr/>
        </p:nvSpPr>
        <p:spPr>
          <a:xfrm>
            <a:off x="14986000" y="101600"/>
            <a:ext cx="9144000" cy="7112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35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YGA 2026 KO Reading</a:t>
            </a:r>
            <a:endParaRPr sz="35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top-red-line"/>
          <p:cNvSpPr/>
          <p:nvPr/>
        </p:nvSpPr>
        <p:spPr>
          <a:xfrm>
            <a:off x="0" y="838200"/>
            <a:ext cx="24384000" cy="1016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12" name="body"/>
          <p:cNvSpPr txBox="1"/>
          <p:nvPr/>
        </p:nvSpPr>
        <p:spPr>
          <a:xfrm>
            <a:off x="444500" y="1498600"/>
            <a:ext cx="23495000" cy="109220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Dear Parents,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At Greenwood High School, we ①take great pride in the cultural diversity that enriches our community. We are very pleased to share with you our special new project, a recipe book, ②creating to celebrate the traditions and flavors of families from around the world. This unique collection features 100 recipes from 26 countries, ③highlighting beloved dishes passed down through generations. It offers a special chance to explore global cuisine and share meaningful moments with your children. We ④encourage you to try some of these recipes together over the summer. You can download this online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eft"/>
          <p:cNvSpPr txBox="1"/>
          <p:nvPr/>
        </p:nvSpPr>
        <p:spPr>
          <a:xfrm>
            <a:off x="177800" y="101600"/>
            <a:ext cx="2794000" cy="7112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35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1번</a:t>
            </a:r>
            <a:endParaRPr sz="35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3" name="top-right"/>
          <p:cNvSpPr txBox="1"/>
          <p:nvPr/>
        </p:nvSpPr>
        <p:spPr>
          <a:xfrm>
            <a:off x="14986000" y="101600"/>
            <a:ext cx="9144000" cy="7112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35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YGA 2026 KO Reading</a:t>
            </a:r>
            <a:endParaRPr sz="35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top-red-line"/>
          <p:cNvSpPr/>
          <p:nvPr/>
        </p:nvSpPr>
        <p:spPr>
          <a:xfrm>
            <a:off x="0" y="838200"/>
            <a:ext cx="24384000" cy="1016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12" name="body"/>
          <p:cNvSpPr txBox="1"/>
          <p:nvPr/>
        </p:nvSpPr>
        <p:spPr>
          <a:xfrm>
            <a:off x="444500" y="1498600"/>
            <a:ext cx="23495000" cy="109220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recipe book from our school website. Food ⑤brings us together, and this project reflects the joy and unity that diversity brings to our school. Thank you, as always, for your continued support.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Warm regards,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Dr. Helen Brooks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Principal, Greenwood High School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eft"/>
          <p:cNvSpPr txBox="1"/>
          <p:nvPr/>
        </p:nvSpPr>
        <p:spPr>
          <a:xfrm>
            <a:off x="177800" y="101600"/>
            <a:ext cx="2794000" cy="7112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35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1번</a:t>
            </a:r>
            <a:endParaRPr sz="35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3" name="top-right"/>
          <p:cNvSpPr txBox="1"/>
          <p:nvPr/>
        </p:nvSpPr>
        <p:spPr>
          <a:xfrm>
            <a:off x="14986000" y="101600"/>
            <a:ext cx="9144000" cy="7112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35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YGA 2026 KO Reading</a:t>
            </a:r>
            <a:endParaRPr sz="35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top-red-line"/>
          <p:cNvSpPr/>
          <p:nvPr/>
        </p:nvSpPr>
        <p:spPr>
          <a:xfrm>
            <a:off x="0" y="838200"/>
            <a:ext cx="24384000" cy="1016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12" name="body"/>
          <p:cNvSpPr txBox="1"/>
          <p:nvPr/>
        </p:nvSpPr>
        <p:spPr>
          <a:xfrm>
            <a:off x="444500" y="1498600"/>
            <a:ext cx="23495000" cy="109220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Dear Professor Langford,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First of all, we ①apologize for contacting you during the holiday season. We understand that this is a busy time, but as the revision deadline of your manuscript (December 27th) is quickly approaching, we kindly ask for your cooperation in addressing the reviewers’ comments ②as thorough as possible within the limited time available. The reviewers have carefully evaluated your manuscript and provided insightful and critical feedback. ③To help you revise, we have summarized the key points raised by both reviewers. Please review these comments carefully and submit a revised version of your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eft"/>
          <p:cNvSpPr txBox="1"/>
          <p:nvPr/>
        </p:nvSpPr>
        <p:spPr>
          <a:xfrm>
            <a:off x="177800" y="101600"/>
            <a:ext cx="2794000" cy="7112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35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1번</a:t>
            </a:r>
            <a:endParaRPr sz="35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3" name="top-right"/>
          <p:cNvSpPr txBox="1"/>
          <p:nvPr/>
        </p:nvSpPr>
        <p:spPr>
          <a:xfrm>
            <a:off x="14986000" y="101600"/>
            <a:ext cx="9144000" cy="7112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35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YGA 2026 KO Reading</a:t>
            </a:r>
            <a:endParaRPr sz="35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top-red-line"/>
          <p:cNvSpPr/>
          <p:nvPr/>
        </p:nvSpPr>
        <p:spPr>
          <a:xfrm>
            <a:off x="0" y="838200"/>
            <a:ext cx="24384000" cy="1016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12" name="body"/>
          <p:cNvSpPr txBox="1"/>
          <p:nvPr/>
        </p:nvSpPr>
        <p:spPr>
          <a:xfrm>
            <a:off x="444500" y="1498600"/>
            <a:ext cx="23495000" cy="10922000"/>
          </a:xfrm>
          <a:prstGeom prst="rect">
            <a:avLst/>
          </a:prstGeom>
          <a:ln>
            <a:noFill/>
          </a:ln>
        </p:spPr>
        <p:txBody>
          <a:bodyPr anchor="t" lIns="50800" tIns="50800" rIns="0" bIns="50800" wrap="square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manuscript. We ④are confident that incorporating these suggestions will significantly improve the manuscript and provide stronger support for your main claims. We hope that the revised manuscript will satisfy the reviewers and ⑤be accepted in our journal. Thank you for your attention and cooperation.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Best regards,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5000" lang="ko-KR" b="1" u="none">
                <a:solidFill>
                  <a:srgbClr val="FFFFFF"/>
                </a:solidFill>
                <a:latin typeface="굴림"/>
                <a:ea typeface="굴림"/>
                <a:cs typeface="굴림"/>
              </a:rPr>
              <a:t>Nora Ellision, Associate Editor</a:t>
            </a:r>
            <a:endParaRPr sz="5000" lang="ko-KR" b="1" u="none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